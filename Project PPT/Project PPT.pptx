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a:srgbClr val="000000"/>
    <a:srgbClr val="0053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2254600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48521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1054797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4B4EA9-0882-4045-995A-E0D60B8E639A}"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1898763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4B4EA9-0882-4045-995A-E0D60B8E639A}" type="datetimeFigureOut">
              <a:rPr lang="en-IN" smtClean="0"/>
              <a:t>21-11-2025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4221080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4B4EA9-0882-4045-995A-E0D60B8E639A}" type="datetimeFigureOut">
              <a:rPr lang="en-IN" smtClean="0"/>
              <a:t>21-11-2025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31634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B4EA9-0882-4045-995A-E0D60B8E639A}" type="datetimeFigureOut">
              <a:rPr lang="en-IN" smtClean="0"/>
              <a:t>21-11-2025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3296796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D4B4EA9-0882-4045-995A-E0D60B8E639A}"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471690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D4B4EA9-0882-4045-995A-E0D60B8E639A}"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1439231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D4B4EA9-0882-4045-995A-E0D60B8E639A}" type="datetimeFigureOut">
              <a:rPr lang="en-IN" smtClean="0"/>
              <a:t>21-11-2025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542710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202061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820540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1966651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2154329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1583629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23559990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4B4EA9-0882-4045-995A-E0D60B8E639A}" type="datetimeFigureOut">
              <a:rPr lang="en-IN" smtClean="0"/>
              <a:t>21-11-2025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A4D3CE-F144-4077-89CC-F225A2DB33FB}" type="slidenum">
              <a:rPr lang="en-IN" smtClean="0"/>
              <a:t>‹#›</a:t>
            </a:fld>
            <a:endParaRPr lang="en-IN"/>
          </a:p>
        </p:txBody>
      </p:sp>
    </p:spTree>
    <p:extLst>
      <p:ext uri="{BB962C8B-B14F-4D97-AF65-F5344CB8AC3E}">
        <p14:creationId xmlns:p14="http://schemas.microsoft.com/office/powerpoint/2010/main" val="2120160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D4B4EA9-0882-4045-995A-E0D60B8E639A}" type="datetimeFigureOut">
              <a:rPr lang="en-IN" smtClean="0"/>
              <a:t>21-11-2025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5A4D3CE-F144-4077-89CC-F225A2DB33FB}" type="slidenum">
              <a:rPr lang="en-IN" smtClean="0"/>
              <a:t>‹#›</a:t>
            </a:fld>
            <a:endParaRPr lang="en-IN"/>
          </a:p>
        </p:txBody>
      </p:sp>
    </p:spTree>
    <p:extLst>
      <p:ext uri="{BB962C8B-B14F-4D97-AF65-F5344CB8AC3E}">
        <p14:creationId xmlns:p14="http://schemas.microsoft.com/office/powerpoint/2010/main" val="3969848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7B4C7-D806-4779-9B1F-4AEFE21A20DF}"/>
              </a:ext>
            </a:extLst>
          </p:cNvPr>
          <p:cNvSpPr>
            <a:spLocks noGrp="1"/>
          </p:cNvSpPr>
          <p:nvPr>
            <p:ph type="ctrTitle"/>
          </p:nvPr>
        </p:nvSpPr>
        <p:spPr>
          <a:xfrm>
            <a:off x="2668425" y="75452"/>
            <a:ext cx="8483669" cy="2616199"/>
          </a:xfrm>
        </p:spPr>
        <p:txBody>
          <a:bodyPr>
            <a:normAutofit fontScale="90000"/>
          </a:bodyPr>
          <a:lstStyle/>
          <a:p>
            <a:pPr algn="l"/>
            <a:r>
              <a:rPr lang="en-US" dirty="0">
                <a:solidFill>
                  <a:srgbClr val="0070C0"/>
                </a:solidFill>
              </a:rPr>
              <a:t>Infosys Budget Wise AI based Expense Forecasting Tool</a:t>
            </a:r>
            <a:endParaRPr lang="en-IN" dirty="0">
              <a:solidFill>
                <a:srgbClr val="0070C0"/>
              </a:solidFill>
            </a:endParaRPr>
          </a:p>
        </p:txBody>
      </p:sp>
      <p:sp>
        <p:nvSpPr>
          <p:cNvPr id="8" name="Rectangle 7">
            <a:extLst>
              <a:ext uri="{FF2B5EF4-FFF2-40B4-BE49-F238E27FC236}">
                <a16:creationId xmlns:a16="http://schemas.microsoft.com/office/drawing/2014/main" id="{6AA672A8-CDA8-4952-A02C-E0B4B4C6D890}"/>
              </a:ext>
            </a:extLst>
          </p:cNvPr>
          <p:cNvSpPr/>
          <p:nvPr/>
        </p:nvSpPr>
        <p:spPr>
          <a:xfrm>
            <a:off x="2843117" y="2967335"/>
            <a:ext cx="4649099" cy="923330"/>
          </a:xfrm>
          <a:prstGeom prst="rect">
            <a:avLst/>
          </a:prstGeom>
        </p:spPr>
        <p:txBody>
          <a:bodyPr wrap="square">
            <a:spAutoFit/>
          </a:bodyPr>
          <a:lstStyle/>
          <a:p>
            <a:r>
              <a:rPr lang="en-US" dirty="0">
                <a:solidFill>
                  <a:srgbClr val="6C6C80"/>
                </a:solidFill>
                <a:latin typeface="Roboto"/>
              </a:rPr>
              <a:t>Integrates predictive analytics with real-time data to deliver accurate, adaptive forecasts that improve financial decision-making</a:t>
            </a:r>
            <a:endParaRPr lang="en-US" b="0" i="0" dirty="0">
              <a:solidFill>
                <a:srgbClr val="6C6C80"/>
              </a:solidFill>
              <a:effectLst/>
              <a:latin typeface="Roboto"/>
            </a:endParaRPr>
          </a:p>
        </p:txBody>
      </p:sp>
      <p:pic>
        <p:nvPicPr>
          <p:cNvPr id="3" name="Picture 2">
            <a:extLst>
              <a:ext uri="{FF2B5EF4-FFF2-40B4-BE49-F238E27FC236}">
                <a16:creationId xmlns:a16="http://schemas.microsoft.com/office/drawing/2014/main" id="{2EC439A1-3463-454B-83B6-A8D200555150}"/>
              </a:ext>
            </a:extLst>
          </p:cNvPr>
          <p:cNvPicPr>
            <a:picLocks noChangeAspect="1"/>
          </p:cNvPicPr>
          <p:nvPr/>
        </p:nvPicPr>
        <p:blipFill>
          <a:blip r:embed="rId2"/>
          <a:stretch>
            <a:fillRect/>
          </a:stretch>
        </p:blipFill>
        <p:spPr>
          <a:xfrm>
            <a:off x="7841840" y="2985264"/>
            <a:ext cx="3579195" cy="3143405"/>
          </a:xfrm>
          <a:prstGeom prst="rect">
            <a:avLst/>
          </a:prstGeom>
        </p:spPr>
      </p:pic>
    </p:spTree>
    <p:extLst>
      <p:ext uri="{BB962C8B-B14F-4D97-AF65-F5344CB8AC3E}">
        <p14:creationId xmlns:p14="http://schemas.microsoft.com/office/powerpoint/2010/main" val="205289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D1B006-C653-4984-A79D-028242AE5028}"/>
              </a:ext>
            </a:extLst>
          </p:cNvPr>
          <p:cNvSpPr/>
          <p:nvPr/>
        </p:nvSpPr>
        <p:spPr>
          <a:xfrm>
            <a:off x="2068937" y="348733"/>
            <a:ext cx="9271416" cy="584775"/>
          </a:xfrm>
          <a:prstGeom prst="rect">
            <a:avLst/>
          </a:prstGeom>
        </p:spPr>
        <p:txBody>
          <a:bodyPr wrap="square">
            <a:spAutoFit/>
          </a:bodyPr>
          <a:lstStyle/>
          <a:p>
            <a:r>
              <a:rPr lang="en-US" sz="3200" b="1" dirty="0">
                <a:solidFill>
                  <a:srgbClr val="204ECF"/>
                </a:solidFill>
                <a:latin typeface="Poppins"/>
              </a:rPr>
              <a:t>AI Budget Forecasting Tool — Presentation Overview</a:t>
            </a:r>
            <a:endParaRPr lang="en-IN" sz="3200" dirty="0"/>
          </a:p>
        </p:txBody>
      </p:sp>
      <p:sp>
        <p:nvSpPr>
          <p:cNvPr id="3" name="Rectangle 2">
            <a:extLst>
              <a:ext uri="{FF2B5EF4-FFF2-40B4-BE49-F238E27FC236}">
                <a16:creationId xmlns:a16="http://schemas.microsoft.com/office/drawing/2014/main" id="{C24BB41C-C74F-4F49-999B-969C708CCAB9}"/>
              </a:ext>
            </a:extLst>
          </p:cNvPr>
          <p:cNvSpPr/>
          <p:nvPr/>
        </p:nvSpPr>
        <p:spPr>
          <a:xfrm>
            <a:off x="2068937" y="933508"/>
            <a:ext cx="7799294" cy="523220"/>
          </a:xfrm>
          <a:prstGeom prst="rect">
            <a:avLst/>
          </a:prstGeom>
        </p:spPr>
        <p:txBody>
          <a:bodyPr wrap="square">
            <a:spAutoFit/>
          </a:bodyPr>
          <a:lstStyle/>
          <a:p>
            <a:r>
              <a:rPr lang="en-US" sz="1400" dirty="0">
                <a:solidFill>
                  <a:srgbClr val="6C6C80"/>
                </a:solidFill>
                <a:latin typeface="Roboto"/>
              </a:rPr>
              <a:t>Concise roadmap covering purpose, features, architecture, results, and next steps for finance and engineering audiences</a:t>
            </a:r>
            <a:endParaRPr lang="en-IN" sz="1400" dirty="0"/>
          </a:p>
        </p:txBody>
      </p:sp>
      <p:pic>
        <p:nvPicPr>
          <p:cNvPr id="4" name="Picture 3">
            <a:extLst>
              <a:ext uri="{FF2B5EF4-FFF2-40B4-BE49-F238E27FC236}">
                <a16:creationId xmlns:a16="http://schemas.microsoft.com/office/drawing/2014/main" id="{198E0834-BD15-4E9A-A185-211899EA135D}"/>
              </a:ext>
            </a:extLst>
          </p:cNvPr>
          <p:cNvPicPr>
            <a:picLocks noChangeAspect="1"/>
          </p:cNvPicPr>
          <p:nvPr/>
        </p:nvPicPr>
        <p:blipFill>
          <a:blip r:embed="rId2"/>
          <a:stretch>
            <a:fillRect/>
          </a:stretch>
        </p:blipFill>
        <p:spPr>
          <a:xfrm>
            <a:off x="1485059" y="1817594"/>
            <a:ext cx="2390775" cy="2057400"/>
          </a:xfrm>
          <a:prstGeom prst="rect">
            <a:avLst/>
          </a:prstGeom>
        </p:spPr>
      </p:pic>
      <p:pic>
        <p:nvPicPr>
          <p:cNvPr id="5" name="Picture 4">
            <a:extLst>
              <a:ext uri="{FF2B5EF4-FFF2-40B4-BE49-F238E27FC236}">
                <a16:creationId xmlns:a16="http://schemas.microsoft.com/office/drawing/2014/main" id="{94C4ED3B-E41D-4347-B9BE-4050C064688B}"/>
              </a:ext>
            </a:extLst>
          </p:cNvPr>
          <p:cNvPicPr>
            <a:picLocks noChangeAspect="1"/>
          </p:cNvPicPr>
          <p:nvPr/>
        </p:nvPicPr>
        <p:blipFill>
          <a:blip r:embed="rId3"/>
          <a:stretch>
            <a:fillRect/>
          </a:stretch>
        </p:blipFill>
        <p:spPr>
          <a:xfrm>
            <a:off x="4193042" y="1817594"/>
            <a:ext cx="2590405" cy="2057400"/>
          </a:xfrm>
          <a:prstGeom prst="rect">
            <a:avLst/>
          </a:prstGeom>
        </p:spPr>
      </p:pic>
      <p:pic>
        <p:nvPicPr>
          <p:cNvPr id="6" name="Picture 5">
            <a:extLst>
              <a:ext uri="{FF2B5EF4-FFF2-40B4-BE49-F238E27FC236}">
                <a16:creationId xmlns:a16="http://schemas.microsoft.com/office/drawing/2014/main" id="{9869789C-D0BB-47EF-AEA2-CD3A112E0E43}"/>
              </a:ext>
            </a:extLst>
          </p:cNvPr>
          <p:cNvPicPr>
            <a:picLocks noChangeAspect="1"/>
          </p:cNvPicPr>
          <p:nvPr/>
        </p:nvPicPr>
        <p:blipFill>
          <a:blip r:embed="rId4"/>
          <a:stretch>
            <a:fillRect/>
          </a:stretch>
        </p:blipFill>
        <p:spPr>
          <a:xfrm>
            <a:off x="7018590" y="1817593"/>
            <a:ext cx="2412741" cy="2045369"/>
          </a:xfrm>
          <a:prstGeom prst="rect">
            <a:avLst/>
          </a:prstGeom>
        </p:spPr>
      </p:pic>
      <p:pic>
        <p:nvPicPr>
          <p:cNvPr id="7" name="Picture 6">
            <a:extLst>
              <a:ext uri="{FF2B5EF4-FFF2-40B4-BE49-F238E27FC236}">
                <a16:creationId xmlns:a16="http://schemas.microsoft.com/office/drawing/2014/main" id="{2105CB8E-484F-47D8-880B-1A0B3EA72647}"/>
              </a:ext>
            </a:extLst>
          </p:cNvPr>
          <p:cNvPicPr>
            <a:picLocks noChangeAspect="1"/>
          </p:cNvPicPr>
          <p:nvPr/>
        </p:nvPicPr>
        <p:blipFill>
          <a:blip r:embed="rId5"/>
          <a:stretch>
            <a:fillRect/>
          </a:stretch>
        </p:blipFill>
        <p:spPr>
          <a:xfrm>
            <a:off x="9666474" y="1829625"/>
            <a:ext cx="2481438" cy="2045369"/>
          </a:xfrm>
          <a:prstGeom prst="rect">
            <a:avLst/>
          </a:prstGeom>
        </p:spPr>
      </p:pic>
      <p:pic>
        <p:nvPicPr>
          <p:cNvPr id="8" name="Picture 7">
            <a:extLst>
              <a:ext uri="{FF2B5EF4-FFF2-40B4-BE49-F238E27FC236}">
                <a16:creationId xmlns:a16="http://schemas.microsoft.com/office/drawing/2014/main" id="{1CD7E452-0872-463A-B1D4-8734ADF3D1E9}"/>
              </a:ext>
            </a:extLst>
          </p:cNvPr>
          <p:cNvPicPr>
            <a:picLocks noChangeAspect="1"/>
          </p:cNvPicPr>
          <p:nvPr/>
        </p:nvPicPr>
        <p:blipFill>
          <a:blip r:embed="rId6"/>
          <a:stretch>
            <a:fillRect/>
          </a:stretch>
        </p:blipFill>
        <p:spPr>
          <a:xfrm>
            <a:off x="1485059" y="4000442"/>
            <a:ext cx="2409825" cy="1924050"/>
          </a:xfrm>
          <a:prstGeom prst="rect">
            <a:avLst/>
          </a:prstGeom>
        </p:spPr>
      </p:pic>
      <p:pic>
        <p:nvPicPr>
          <p:cNvPr id="9" name="Picture 8">
            <a:extLst>
              <a:ext uri="{FF2B5EF4-FFF2-40B4-BE49-F238E27FC236}">
                <a16:creationId xmlns:a16="http://schemas.microsoft.com/office/drawing/2014/main" id="{8BDA2B22-5310-41A8-A5CF-6414EADC67DF}"/>
              </a:ext>
            </a:extLst>
          </p:cNvPr>
          <p:cNvPicPr>
            <a:picLocks noChangeAspect="1"/>
          </p:cNvPicPr>
          <p:nvPr/>
        </p:nvPicPr>
        <p:blipFill>
          <a:blip r:embed="rId7"/>
          <a:stretch>
            <a:fillRect/>
          </a:stretch>
        </p:blipFill>
        <p:spPr>
          <a:xfrm>
            <a:off x="4193041" y="4052829"/>
            <a:ext cx="2409825" cy="1871663"/>
          </a:xfrm>
          <a:prstGeom prst="rect">
            <a:avLst/>
          </a:prstGeom>
        </p:spPr>
      </p:pic>
      <p:pic>
        <p:nvPicPr>
          <p:cNvPr id="10" name="Picture 9">
            <a:extLst>
              <a:ext uri="{FF2B5EF4-FFF2-40B4-BE49-F238E27FC236}">
                <a16:creationId xmlns:a16="http://schemas.microsoft.com/office/drawing/2014/main" id="{73CA8955-9DD3-4071-8AA0-2CC5BB6D397A}"/>
              </a:ext>
            </a:extLst>
          </p:cNvPr>
          <p:cNvPicPr>
            <a:picLocks noChangeAspect="1"/>
          </p:cNvPicPr>
          <p:nvPr/>
        </p:nvPicPr>
        <p:blipFill>
          <a:blip r:embed="rId8"/>
          <a:stretch>
            <a:fillRect/>
          </a:stretch>
        </p:blipFill>
        <p:spPr>
          <a:xfrm>
            <a:off x="7018590" y="4052828"/>
            <a:ext cx="2409825" cy="1871663"/>
          </a:xfrm>
          <a:prstGeom prst="rect">
            <a:avLst/>
          </a:prstGeom>
        </p:spPr>
      </p:pic>
      <p:pic>
        <p:nvPicPr>
          <p:cNvPr id="11" name="Picture 10">
            <a:extLst>
              <a:ext uri="{FF2B5EF4-FFF2-40B4-BE49-F238E27FC236}">
                <a16:creationId xmlns:a16="http://schemas.microsoft.com/office/drawing/2014/main" id="{0B531D9E-3789-42C8-B7EB-4CA7E28AADBD}"/>
              </a:ext>
            </a:extLst>
          </p:cNvPr>
          <p:cNvPicPr>
            <a:picLocks noChangeAspect="1"/>
          </p:cNvPicPr>
          <p:nvPr/>
        </p:nvPicPr>
        <p:blipFill>
          <a:blip r:embed="rId9"/>
          <a:stretch>
            <a:fillRect/>
          </a:stretch>
        </p:blipFill>
        <p:spPr>
          <a:xfrm>
            <a:off x="9666474" y="4031396"/>
            <a:ext cx="2409825" cy="1914525"/>
          </a:xfrm>
          <a:prstGeom prst="rect">
            <a:avLst/>
          </a:prstGeom>
        </p:spPr>
      </p:pic>
    </p:spTree>
    <p:extLst>
      <p:ext uri="{BB962C8B-B14F-4D97-AF65-F5344CB8AC3E}">
        <p14:creationId xmlns:p14="http://schemas.microsoft.com/office/powerpoint/2010/main" val="135181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97F5C6-5DF8-4CF5-B6E2-C8AA83A632A9}"/>
              </a:ext>
            </a:extLst>
          </p:cNvPr>
          <p:cNvSpPr/>
          <p:nvPr/>
        </p:nvSpPr>
        <p:spPr>
          <a:xfrm>
            <a:off x="2635624" y="536993"/>
            <a:ext cx="7362507" cy="646331"/>
          </a:xfrm>
          <a:prstGeom prst="rect">
            <a:avLst/>
          </a:prstGeom>
        </p:spPr>
        <p:txBody>
          <a:bodyPr wrap="square">
            <a:spAutoFit/>
          </a:bodyPr>
          <a:lstStyle/>
          <a:p>
            <a:r>
              <a:rPr lang="en-US" sz="3600" b="1" dirty="0">
                <a:solidFill>
                  <a:srgbClr val="0070C0"/>
                </a:solidFill>
                <a:latin typeface="Poppins"/>
              </a:rPr>
              <a:t>Introduction to AI Budget Forecasting</a:t>
            </a:r>
            <a:endParaRPr lang="en-IN" sz="3600" dirty="0">
              <a:solidFill>
                <a:srgbClr val="0070C0"/>
              </a:solidFill>
            </a:endParaRPr>
          </a:p>
        </p:txBody>
      </p:sp>
      <p:sp>
        <p:nvSpPr>
          <p:cNvPr id="3" name="Rectangle 2">
            <a:extLst>
              <a:ext uri="{FF2B5EF4-FFF2-40B4-BE49-F238E27FC236}">
                <a16:creationId xmlns:a16="http://schemas.microsoft.com/office/drawing/2014/main" id="{3778BEF2-D786-4CF4-ACD6-175DA1856428}"/>
              </a:ext>
            </a:extLst>
          </p:cNvPr>
          <p:cNvSpPr/>
          <p:nvPr/>
        </p:nvSpPr>
        <p:spPr>
          <a:xfrm>
            <a:off x="2635624" y="1273005"/>
            <a:ext cx="7198658" cy="1754326"/>
          </a:xfrm>
          <a:prstGeom prst="rect">
            <a:avLst/>
          </a:prstGeom>
        </p:spPr>
        <p:txBody>
          <a:bodyPr wrap="square">
            <a:spAutoFit/>
          </a:bodyPr>
          <a:lstStyle/>
          <a:p>
            <a:r>
              <a:rPr lang="en-US" sz="1600" dirty="0">
                <a:solidFill>
                  <a:srgbClr val="6C6C80"/>
                </a:solidFill>
                <a:latin typeface="Roboto"/>
              </a:rPr>
              <a:t>Use machine learning on historical and real-time data to improve budgeting, reduce risk, and enable strategic decisions</a:t>
            </a:r>
          </a:p>
          <a:p>
            <a:endParaRPr lang="en-US" dirty="0">
              <a:solidFill>
                <a:srgbClr val="6C6C80"/>
              </a:solidFill>
              <a:latin typeface="Roboto"/>
            </a:endParaRPr>
          </a:p>
          <a:p>
            <a:endParaRPr lang="en-US" dirty="0">
              <a:solidFill>
                <a:srgbClr val="6C6C80"/>
              </a:solidFill>
              <a:latin typeface="Roboto"/>
            </a:endParaRPr>
          </a:p>
          <a:p>
            <a:endParaRPr lang="en-US" dirty="0">
              <a:solidFill>
                <a:srgbClr val="6C6C80"/>
              </a:solidFill>
              <a:latin typeface="Roboto"/>
            </a:endParaRPr>
          </a:p>
          <a:p>
            <a:endParaRPr lang="en-IN" dirty="0"/>
          </a:p>
        </p:txBody>
      </p:sp>
      <p:pic>
        <p:nvPicPr>
          <p:cNvPr id="4" name="Picture 3">
            <a:extLst>
              <a:ext uri="{FF2B5EF4-FFF2-40B4-BE49-F238E27FC236}">
                <a16:creationId xmlns:a16="http://schemas.microsoft.com/office/drawing/2014/main" id="{A5F3D08F-BA8F-4CE1-B76B-4C46E3E1CE3D}"/>
              </a:ext>
            </a:extLst>
          </p:cNvPr>
          <p:cNvPicPr>
            <a:picLocks noChangeAspect="1"/>
          </p:cNvPicPr>
          <p:nvPr/>
        </p:nvPicPr>
        <p:blipFill>
          <a:blip r:embed="rId2"/>
          <a:stretch>
            <a:fillRect/>
          </a:stretch>
        </p:blipFill>
        <p:spPr>
          <a:xfrm>
            <a:off x="2833128" y="2134600"/>
            <a:ext cx="537602" cy="549041"/>
          </a:xfrm>
          <a:prstGeom prst="rect">
            <a:avLst/>
          </a:prstGeom>
        </p:spPr>
      </p:pic>
      <p:sp>
        <p:nvSpPr>
          <p:cNvPr id="5" name="Rectangle 4">
            <a:extLst>
              <a:ext uri="{FF2B5EF4-FFF2-40B4-BE49-F238E27FC236}">
                <a16:creationId xmlns:a16="http://schemas.microsoft.com/office/drawing/2014/main" id="{8E1EC9C0-97FF-46B7-B29D-ADB4C90FCBB3}"/>
              </a:ext>
            </a:extLst>
          </p:cNvPr>
          <p:cNvSpPr/>
          <p:nvPr/>
        </p:nvSpPr>
        <p:spPr>
          <a:xfrm>
            <a:off x="3460376" y="2167328"/>
            <a:ext cx="6096000" cy="523220"/>
          </a:xfrm>
          <a:prstGeom prst="rect">
            <a:avLst/>
          </a:prstGeom>
        </p:spPr>
        <p:txBody>
          <a:bodyPr>
            <a:spAutoFit/>
          </a:bodyPr>
          <a:lstStyle/>
          <a:p>
            <a:r>
              <a:rPr lang="en-US" sz="1400" b="1" dirty="0">
                <a:solidFill>
                  <a:srgbClr val="07071B"/>
                </a:solidFill>
                <a:latin typeface="Roboto"/>
              </a:rPr>
              <a:t>Predictive accuracy</a:t>
            </a:r>
            <a:r>
              <a:rPr lang="en-US" sz="1400" dirty="0">
                <a:solidFill>
                  <a:srgbClr val="07071B"/>
                </a:solidFill>
                <a:latin typeface="Roboto"/>
              </a:rPr>
              <a:t> from ML models analyzing large volumes of historical and real-time data</a:t>
            </a:r>
            <a:endParaRPr lang="en-IN" sz="1400" dirty="0"/>
          </a:p>
        </p:txBody>
      </p:sp>
      <p:pic>
        <p:nvPicPr>
          <p:cNvPr id="6" name="Picture 5">
            <a:extLst>
              <a:ext uri="{FF2B5EF4-FFF2-40B4-BE49-F238E27FC236}">
                <a16:creationId xmlns:a16="http://schemas.microsoft.com/office/drawing/2014/main" id="{18EE378A-2A35-488C-8408-863797A3BCD6}"/>
              </a:ext>
            </a:extLst>
          </p:cNvPr>
          <p:cNvPicPr>
            <a:picLocks noChangeAspect="1"/>
          </p:cNvPicPr>
          <p:nvPr/>
        </p:nvPicPr>
        <p:blipFill>
          <a:blip r:embed="rId3"/>
          <a:stretch>
            <a:fillRect/>
          </a:stretch>
        </p:blipFill>
        <p:spPr>
          <a:xfrm>
            <a:off x="2833128" y="2918426"/>
            <a:ext cx="537602" cy="567469"/>
          </a:xfrm>
          <a:prstGeom prst="rect">
            <a:avLst/>
          </a:prstGeom>
        </p:spPr>
      </p:pic>
      <p:sp>
        <p:nvSpPr>
          <p:cNvPr id="7" name="Rectangle 6">
            <a:extLst>
              <a:ext uri="{FF2B5EF4-FFF2-40B4-BE49-F238E27FC236}">
                <a16:creationId xmlns:a16="http://schemas.microsoft.com/office/drawing/2014/main" id="{B2C6DBED-03D1-4F60-90A1-87CEDE0742E0}"/>
              </a:ext>
            </a:extLst>
          </p:cNvPr>
          <p:cNvSpPr/>
          <p:nvPr/>
        </p:nvSpPr>
        <p:spPr>
          <a:xfrm>
            <a:off x="3451412" y="3129220"/>
            <a:ext cx="6096000" cy="307777"/>
          </a:xfrm>
          <a:prstGeom prst="rect">
            <a:avLst/>
          </a:prstGeom>
        </p:spPr>
        <p:txBody>
          <a:bodyPr>
            <a:spAutoFit/>
          </a:bodyPr>
          <a:lstStyle/>
          <a:p>
            <a:r>
              <a:rPr lang="en-US" sz="1400" b="1" dirty="0">
                <a:solidFill>
                  <a:srgbClr val="07071B"/>
                </a:solidFill>
                <a:latin typeface="Roboto"/>
              </a:rPr>
              <a:t>Dynamic adaptation</a:t>
            </a:r>
            <a:r>
              <a:rPr lang="en-US" sz="1400" dirty="0">
                <a:solidFill>
                  <a:srgbClr val="07071B"/>
                </a:solidFill>
                <a:latin typeface="Roboto"/>
              </a:rPr>
              <a:t>: models update forecasts as new data arrives</a:t>
            </a:r>
            <a:endParaRPr lang="en-IN" sz="1400" dirty="0"/>
          </a:p>
        </p:txBody>
      </p:sp>
      <p:sp>
        <p:nvSpPr>
          <p:cNvPr id="8" name="Rectangle 7">
            <a:extLst>
              <a:ext uri="{FF2B5EF4-FFF2-40B4-BE49-F238E27FC236}">
                <a16:creationId xmlns:a16="http://schemas.microsoft.com/office/drawing/2014/main" id="{9EF69467-762D-4CDA-87E5-F2EF10627BF5}"/>
              </a:ext>
            </a:extLst>
          </p:cNvPr>
          <p:cNvSpPr/>
          <p:nvPr/>
        </p:nvSpPr>
        <p:spPr>
          <a:xfrm>
            <a:off x="3451412" y="3811157"/>
            <a:ext cx="6096000" cy="307777"/>
          </a:xfrm>
          <a:prstGeom prst="rect">
            <a:avLst/>
          </a:prstGeom>
        </p:spPr>
        <p:txBody>
          <a:bodyPr>
            <a:spAutoFit/>
          </a:bodyPr>
          <a:lstStyle/>
          <a:p>
            <a:r>
              <a:rPr lang="en-US" sz="1400" b="1" dirty="0">
                <a:solidFill>
                  <a:srgbClr val="07071B"/>
                </a:solidFill>
                <a:latin typeface="Roboto"/>
              </a:rPr>
              <a:t>Risk mitigation</a:t>
            </a:r>
            <a:r>
              <a:rPr lang="en-US" sz="1400" dirty="0">
                <a:solidFill>
                  <a:srgbClr val="07071B"/>
                </a:solidFill>
                <a:latin typeface="Roboto"/>
              </a:rPr>
              <a:t> through pattern detection and anomaly alerts</a:t>
            </a:r>
            <a:endParaRPr lang="en-IN" sz="1400" dirty="0"/>
          </a:p>
        </p:txBody>
      </p:sp>
      <p:pic>
        <p:nvPicPr>
          <p:cNvPr id="9" name="Picture 8">
            <a:extLst>
              <a:ext uri="{FF2B5EF4-FFF2-40B4-BE49-F238E27FC236}">
                <a16:creationId xmlns:a16="http://schemas.microsoft.com/office/drawing/2014/main" id="{D4A01A8C-009A-429C-B485-C8F28933DF26}"/>
              </a:ext>
            </a:extLst>
          </p:cNvPr>
          <p:cNvPicPr>
            <a:picLocks noChangeAspect="1"/>
          </p:cNvPicPr>
          <p:nvPr/>
        </p:nvPicPr>
        <p:blipFill>
          <a:blip r:embed="rId4"/>
          <a:stretch>
            <a:fillRect/>
          </a:stretch>
        </p:blipFill>
        <p:spPr>
          <a:xfrm>
            <a:off x="2833128" y="3737369"/>
            <a:ext cx="537602" cy="491849"/>
          </a:xfrm>
          <a:prstGeom prst="rect">
            <a:avLst/>
          </a:prstGeom>
        </p:spPr>
      </p:pic>
      <p:pic>
        <p:nvPicPr>
          <p:cNvPr id="10" name="Picture 9">
            <a:extLst>
              <a:ext uri="{FF2B5EF4-FFF2-40B4-BE49-F238E27FC236}">
                <a16:creationId xmlns:a16="http://schemas.microsoft.com/office/drawing/2014/main" id="{35B5ACE2-BFFC-4905-9AED-4894800ACB00}"/>
              </a:ext>
            </a:extLst>
          </p:cNvPr>
          <p:cNvPicPr>
            <a:picLocks noChangeAspect="1"/>
          </p:cNvPicPr>
          <p:nvPr/>
        </p:nvPicPr>
        <p:blipFill>
          <a:blip r:embed="rId5"/>
          <a:stretch>
            <a:fillRect/>
          </a:stretch>
        </p:blipFill>
        <p:spPr>
          <a:xfrm>
            <a:off x="2833128" y="4545373"/>
            <a:ext cx="537602" cy="550104"/>
          </a:xfrm>
          <a:prstGeom prst="rect">
            <a:avLst/>
          </a:prstGeom>
        </p:spPr>
      </p:pic>
      <p:sp>
        <p:nvSpPr>
          <p:cNvPr id="11" name="Rectangle 10">
            <a:extLst>
              <a:ext uri="{FF2B5EF4-FFF2-40B4-BE49-F238E27FC236}">
                <a16:creationId xmlns:a16="http://schemas.microsoft.com/office/drawing/2014/main" id="{C5791E3D-D6AC-4387-A99D-3110B1FE7A40}"/>
              </a:ext>
            </a:extLst>
          </p:cNvPr>
          <p:cNvSpPr/>
          <p:nvPr/>
        </p:nvSpPr>
        <p:spPr>
          <a:xfrm>
            <a:off x="3514165" y="4507578"/>
            <a:ext cx="6096000" cy="523220"/>
          </a:xfrm>
          <a:prstGeom prst="rect">
            <a:avLst/>
          </a:prstGeom>
        </p:spPr>
        <p:txBody>
          <a:bodyPr>
            <a:spAutoFit/>
          </a:bodyPr>
          <a:lstStyle/>
          <a:p>
            <a:r>
              <a:rPr lang="en-US" sz="1400" b="1" dirty="0">
                <a:solidFill>
                  <a:srgbClr val="07071B"/>
                </a:solidFill>
                <a:latin typeface="Roboto"/>
              </a:rPr>
              <a:t>Informed strategic planning</a:t>
            </a:r>
            <a:r>
              <a:rPr lang="en-US" sz="1400" dirty="0">
                <a:solidFill>
                  <a:srgbClr val="07071B"/>
                </a:solidFill>
                <a:latin typeface="Roboto"/>
              </a:rPr>
              <a:t> with scenario simulation and resource allocation insights</a:t>
            </a:r>
            <a:endParaRPr lang="en-IN" sz="1400" dirty="0"/>
          </a:p>
        </p:txBody>
      </p:sp>
      <p:pic>
        <p:nvPicPr>
          <p:cNvPr id="12" name="Picture 11">
            <a:extLst>
              <a:ext uri="{FF2B5EF4-FFF2-40B4-BE49-F238E27FC236}">
                <a16:creationId xmlns:a16="http://schemas.microsoft.com/office/drawing/2014/main" id="{3D4FC6E5-2983-42F2-AA5C-0BBFB2609D2B}"/>
              </a:ext>
            </a:extLst>
          </p:cNvPr>
          <p:cNvPicPr>
            <a:picLocks noChangeAspect="1"/>
          </p:cNvPicPr>
          <p:nvPr/>
        </p:nvPicPr>
        <p:blipFill>
          <a:blip r:embed="rId6"/>
          <a:stretch>
            <a:fillRect/>
          </a:stretch>
        </p:blipFill>
        <p:spPr>
          <a:xfrm>
            <a:off x="2833128" y="5346061"/>
            <a:ext cx="537602" cy="477868"/>
          </a:xfrm>
          <a:prstGeom prst="rect">
            <a:avLst/>
          </a:prstGeom>
        </p:spPr>
      </p:pic>
      <p:sp>
        <p:nvSpPr>
          <p:cNvPr id="13" name="Rectangle 12">
            <a:extLst>
              <a:ext uri="{FF2B5EF4-FFF2-40B4-BE49-F238E27FC236}">
                <a16:creationId xmlns:a16="http://schemas.microsoft.com/office/drawing/2014/main" id="{D170FEF3-946F-4D9D-BC3F-085E8A22273D}"/>
              </a:ext>
            </a:extLst>
          </p:cNvPr>
          <p:cNvSpPr/>
          <p:nvPr/>
        </p:nvSpPr>
        <p:spPr>
          <a:xfrm>
            <a:off x="3451412" y="5431106"/>
            <a:ext cx="6096000" cy="307777"/>
          </a:xfrm>
          <a:prstGeom prst="rect">
            <a:avLst/>
          </a:prstGeom>
        </p:spPr>
        <p:txBody>
          <a:bodyPr>
            <a:spAutoFit/>
          </a:bodyPr>
          <a:lstStyle/>
          <a:p>
            <a:r>
              <a:rPr lang="en-US" sz="1400" b="1" dirty="0">
                <a:solidFill>
                  <a:srgbClr val="07071B"/>
                </a:solidFill>
                <a:latin typeface="Roboto"/>
              </a:rPr>
              <a:t>More reliable budgeting</a:t>
            </a:r>
            <a:r>
              <a:rPr lang="en-US" sz="1400" dirty="0">
                <a:solidFill>
                  <a:srgbClr val="07071B"/>
                </a:solidFill>
                <a:latin typeface="Roboto"/>
              </a:rPr>
              <a:t> versus static models via continuous analytics</a:t>
            </a:r>
            <a:endParaRPr lang="en-IN" sz="1400" dirty="0"/>
          </a:p>
        </p:txBody>
      </p:sp>
    </p:spTree>
    <p:extLst>
      <p:ext uri="{BB962C8B-B14F-4D97-AF65-F5344CB8AC3E}">
        <p14:creationId xmlns:p14="http://schemas.microsoft.com/office/powerpoint/2010/main" val="2037623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C2B312-17F7-428D-8205-0D1B765F93B5}"/>
              </a:ext>
            </a:extLst>
          </p:cNvPr>
          <p:cNvSpPr/>
          <p:nvPr/>
        </p:nvSpPr>
        <p:spPr>
          <a:xfrm>
            <a:off x="1559677" y="1090408"/>
            <a:ext cx="6907668" cy="954107"/>
          </a:xfrm>
          <a:prstGeom prst="rect">
            <a:avLst/>
          </a:prstGeom>
        </p:spPr>
        <p:txBody>
          <a:bodyPr wrap="square">
            <a:spAutoFit/>
          </a:bodyPr>
          <a:lstStyle/>
          <a:p>
            <a:r>
              <a:rPr lang="en-US" sz="2800" b="1" dirty="0">
                <a:solidFill>
                  <a:srgbClr val="0070C0"/>
                </a:solidFill>
                <a:latin typeface="Roboto"/>
              </a:rPr>
              <a:t>Project Statement: Personal Budgeting &amp; Expense Forecaster</a:t>
            </a:r>
            <a:endParaRPr lang="en-IN" sz="2800" dirty="0">
              <a:solidFill>
                <a:srgbClr val="0070C0"/>
              </a:solidFill>
              <a:latin typeface="Roboto"/>
            </a:endParaRPr>
          </a:p>
        </p:txBody>
      </p:sp>
      <p:sp>
        <p:nvSpPr>
          <p:cNvPr id="4" name="Rectangle 3">
            <a:extLst>
              <a:ext uri="{FF2B5EF4-FFF2-40B4-BE49-F238E27FC236}">
                <a16:creationId xmlns:a16="http://schemas.microsoft.com/office/drawing/2014/main" id="{00D35857-AAE8-46FC-9A53-D7E6C257217D}"/>
              </a:ext>
            </a:extLst>
          </p:cNvPr>
          <p:cNvSpPr/>
          <p:nvPr/>
        </p:nvSpPr>
        <p:spPr>
          <a:xfrm>
            <a:off x="1595536" y="2260136"/>
            <a:ext cx="6701118" cy="3693319"/>
          </a:xfrm>
          <a:prstGeom prst="rect">
            <a:avLst/>
          </a:prstGeom>
        </p:spPr>
        <p:txBody>
          <a:bodyPr wrap="square">
            <a:spAutoFit/>
          </a:bodyPr>
          <a:lstStyle/>
          <a:p>
            <a:r>
              <a:rPr lang="en-US" dirty="0">
                <a:solidFill>
                  <a:srgbClr val="6C6C80"/>
                </a:solidFill>
                <a:latin typeface="Roboto"/>
              </a:rPr>
              <a:t>Many people struggle with personal finance due to overwhelming daily transactions, making it hard to track spending, stick to budgets, and plan for the future. This lack of financial clarity causes stress, lost savings, and hinders long-term stability. The "Personal Budgeting &amp; Expense Forecaster" aims to solve this by providing an intuitive tool that uses time-series forecasting on historical (simulated) transaction data. This will help users visualize spending patterns, set financial goals, and predict future expenses and savings, ultimately enabling them to make better financial decisions and gain control over their finances. </a:t>
            </a:r>
          </a:p>
          <a:p>
            <a:br>
              <a:rPr lang="en-US" dirty="0"/>
            </a:br>
            <a:endParaRPr lang="en-IN" dirty="0"/>
          </a:p>
        </p:txBody>
      </p:sp>
      <p:pic>
        <p:nvPicPr>
          <p:cNvPr id="5" name="Picture 4">
            <a:extLst>
              <a:ext uri="{FF2B5EF4-FFF2-40B4-BE49-F238E27FC236}">
                <a16:creationId xmlns:a16="http://schemas.microsoft.com/office/drawing/2014/main" id="{357D80F4-EE7D-4CCB-A9EC-351DEA0B16F9}"/>
              </a:ext>
            </a:extLst>
          </p:cNvPr>
          <p:cNvPicPr>
            <a:picLocks noChangeAspect="1"/>
          </p:cNvPicPr>
          <p:nvPr/>
        </p:nvPicPr>
        <p:blipFill>
          <a:blip r:embed="rId2"/>
          <a:stretch>
            <a:fillRect/>
          </a:stretch>
        </p:blipFill>
        <p:spPr>
          <a:xfrm>
            <a:off x="8686800" y="2044515"/>
            <a:ext cx="3258950" cy="3026687"/>
          </a:xfrm>
          <a:prstGeom prst="rect">
            <a:avLst/>
          </a:prstGeom>
          <a:ln>
            <a:solidFill>
              <a:srgbClr val="000000"/>
            </a:solidFill>
          </a:ln>
          <a:effectLst>
            <a:glow rad="139700">
              <a:schemeClr val="tx1">
                <a:lumMod val="65000"/>
                <a:lumOff val="35000"/>
                <a:alpha val="40000"/>
              </a:schemeClr>
            </a:glow>
          </a:effectLst>
        </p:spPr>
      </p:pic>
    </p:spTree>
    <p:extLst>
      <p:ext uri="{BB962C8B-B14F-4D97-AF65-F5344CB8AC3E}">
        <p14:creationId xmlns:p14="http://schemas.microsoft.com/office/powerpoint/2010/main" val="198086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EBFBBF-FB31-4DC6-BE8A-0C9A287CC58E}"/>
              </a:ext>
            </a:extLst>
          </p:cNvPr>
          <p:cNvSpPr/>
          <p:nvPr/>
        </p:nvSpPr>
        <p:spPr>
          <a:xfrm>
            <a:off x="1694329" y="438056"/>
            <a:ext cx="6156808" cy="584775"/>
          </a:xfrm>
          <a:prstGeom prst="rect">
            <a:avLst/>
          </a:prstGeom>
        </p:spPr>
        <p:txBody>
          <a:bodyPr wrap="square">
            <a:spAutoFit/>
          </a:bodyPr>
          <a:lstStyle/>
          <a:p>
            <a:r>
              <a:rPr lang="en-IN" sz="3200" b="1" dirty="0">
                <a:solidFill>
                  <a:srgbClr val="204ECF"/>
                </a:solidFill>
                <a:latin typeface="Poppins"/>
              </a:rPr>
              <a:t>Proposed Solution: </a:t>
            </a:r>
            <a:endParaRPr lang="en-IN" sz="3200" dirty="0"/>
          </a:p>
        </p:txBody>
      </p:sp>
      <p:sp>
        <p:nvSpPr>
          <p:cNvPr id="5" name="Rectangle 4">
            <a:extLst>
              <a:ext uri="{FF2B5EF4-FFF2-40B4-BE49-F238E27FC236}">
                <a16:creationId xmlns:a16="http://schemas.microsoft.com/office/drawing/2014/main" id="{C9792216-8C62-4237-9C26-5CC4109B0EDC}"/>
              </a:ext>
            </a:extLst>
          </p:cNvPr>
          <p:cNvSpPr/>
          <p:nvPr/>
        </p:nvSpPr>
        <p:spPr>
          <a:xfrm>
            <a:off x="1694329" y="1218521"/>
            <a:ext cx="9825318" cy="4616648"/>
          </a:xfrm>
          <a:prstGeom prst="rect">
            <a:avLst/>
          </a:prstGeom>
        </p:spPr>
        <p:txBody>
          <a:bodyPr wrap="square">
            <a:spAutoFit/>
          </a:bodyPr>
          <a:lstStyle/>
          <a:p>
            <a:pPr algn="just">
              <a:buFont typeface="Arial" panose="020B0604020202020204" pitchFamily="34" charset="0"/>
              <a:buChar char="•"/>
            </a:pPr>
            <a:r>
              <a:rPr lang="en-US" sz="1400" dirty="0">
                <a:solidFill>
                  <a:srgbClr val="6C6C80"/>
                </a:solidFill>
                <a:latin typeface="Roboto"/>
              </a:rPr>
              <a:t>The </a:t>
            </a:r>
            <a:r>
              <a:rPr lang="en-US" sz="1400" dirty="0" err="1">
                <a:solidFill>
                  <a:srgbClr val="6C6C80"/>
                </a:solidFill>
                <a:latin typeface="Roboto"/>
              </a:rPr>
              <a:t>BudgetWise</a:t>
            </a:r>
            <a:r>
              <a:rPr lang="en-US" sz="1400" dirty="0">
                <a:solidFill>
                  <a:srgbClr val="6C6C80"/>
                </a:solidFill>
                <a:latin typeface="Roboto"/>
              </a:rPr>
              <a:t> AI-Based Expense Forecasting Tool is an intelligent </a:t>
            </a:r>
            <a:r>
              <a:rPr lang="en-US" sz="1400" dirty="0" err="1">
                <a:solidFill>
                  <a:srgbClr val="6C6C80"/>
                </a:solidFill>
                <a:latin typeface="Roboto"/>
              </a:rPr>
              <a:t>Streamlit</a:t>
            </a:r>
            <a:r>
              <a:rPr lang="en-US" sz="1400" dirty="0">
                <a:solidFill>
                  <a:srgbClr val="6C6C80"/>
                </a:solidFill>
                <a:latin typeface="Roboto"/>
              </a:rPr>
              <a:t> web application designed to help individuals proactively manage their finances and overcome common budgeting challenges.</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The solution integrates a powerful set of features:</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Effortless Data Ingestion &amp; Smart Categorization: Users can easily input transactions manually or via CSV uploads, which are then automatically categorized using a rule-based NLTK engine, streamlining the initial data organization.</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Comprehensive Financial Tracking &amp; Analytics: All financial data is securely stored in an SQLite database, forming the basis for Pandas-driven analytics that provide real-time spending summaries, income/expense reports, and clear trend visualizations.</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Predictive AI Forecasting: At its core, </a:t>
            </a:r>
            <a:r>
              <a:rPr lang="en-US" sz="1400" dirty="0" err="1">
                <a:solidFill>
                  <a:srgbClr val="6C6C80"/>
                </a:solidFill>
                <a:latin typeface="Roboto"/>
              </a:rPr>
              <a:t>BudgetWise</a:t>
            </a:r>
            <a:r>
              <a:rPr lang="en-US" sz="1400" dirty="0">
                <a:solidFill>
                  <a:srgbClr val="6C6C80"/>
                </a:solidFill>
                <a:latin typeface="Roboto"/>
              </a:rPr>
              <a:t> leverages Meta's Prophet library to intelligently forecast future expenses and spending patterns based on historical data, offering users crucial foresight for financial planning.</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Interactive Dashboards &amp; Goal Management: An intuitive dashboard, built with </a:t>
            </a:r>
            <a:r>
              <a:rPr lang="en-US" sz="1400" dirty="0" err="1">
                <a:solidFill>
                  <a:srgbClr val="6C6C80"/>
                </a:solidFill>
                <a:latin typeface="Roboto"/>
              </a:rPr>
              <a:t>Streamlit</a:t>
            </a:r>
            <a:r>
              <a:rPr lang="en-US" sz="1400" dirty="0">
                <a:solidFill>
                  <a:srgbClr val="6C6C80"/>
                </a:solidFill>
                <a:latin typeface="Roboto"/>
              </a:rPr>
              <a:t> and Altair, provides dynamic visualizations of financial health, future forecasts, and allows users to set and track personal financial goals with clear progress indicators and alerts.</a:t>
            </a:r>
          </a:p>
          <a:p>
            <a:pPr algn="just">
              <a:buFont typeface="Arial" panose="020B0604020202020204" pitchFamily="34" charset="0"/>
              <a:buChar char="•"/>
            </a:pPr>
            <a:endParaRPr lang="en-US" sz="1400" dirty="0">
              <a:solidFill>
                <a:srgbClr val="6C6C80"/>
              </a:solidFill>
              <a:latin typeface="Roboto"/>
            </a:endParaRPr>
          </a:p>
          <a:p>
            <a:pPr algn="just">
              <a:buFont typeface="Arial" panose="020B0604020202020204" pitchFamily="34" charset="0"/>
              <a:buChar char="•"/>
            </a:pPr>
            <a:r>
              <a:rPr lang="en-US" sz="1400" dirty="0">
                <a:solidFill>
                  <a:srgbClr val="6C6C80"/>
                </a:solidFill>
                <a:latin typeface="Roboto"/>
              </a:rPr>
              <a:t>Admin Configurability: An Admin Dashboard empowers customization by allowing dynamic management of transaction categories and their associated keyword rules, ensuring the system remains adaptable and relevant.</a:t>
            </a:r>
            <a:endParaRPr lang="en-US" sz="1400" b="0" i="0" dirty="0">
              <a:solidFill>
                <a:srgbClr val="6C6C80"/>
              </a:solidFill>
              <a:effectLst/>
              <a:latin typeface="Roboto"/>
            </a:endParaRPr>
          </a:p>
        </p:txBody>
      </p:sp>
    </p:spTree>
    <p:extLst>
      <p:ext uri="{BB962C8B-B14F-4D97-AF65-F5344CB8AC3E}">
        <p14:creationId xmlns:p14="http://schemas.microsoft.com/office/powerpoint/2010/main" val="2162834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89723-5240-4C8D-B200-82B4ACAA8224}"/>
              </a:ext>
            </a:extLst>
          </p:cNvPr>
          <p:cNvSpPr/>
          <p:nvPr/>
        </p:nvSpPr>
        <p:spPr>
          <a:xfrm>
            <a:off x="1736352" y="148936"/>
            <a:ext cx="2232755" cy="584775"/>
          </a:xfrm>
          <a:prstGeom prst="rect">
            <a:avLst/>
          </a:prstGeom>
        </p:spPr>
        <p:txBody>
          <a:bodyPr wrap="square">
            <a:spAutoFit/>
          </a:bodyPr>
          <a:lstStyle/>
          <a:p>
            <a:r>
              <a:rPr lang="en-IN" sz="3200" b="1" dirty="0">
                <a:solidFill>
                  <a:srgbClr val="204ECF"/>
                </a:solidFill>
                <a:latin typeface="Poppins"/>
              </a:rPr>
              <a:t>Objectives </a:t>
            </a:r>
            <a:endParaRPr lang="en-IN" sz="3200" dirty="0"/>
          </a:p>
        </p:txBody>
      </p:sp>
      <p:sp>
        <p:nvSpPr>
          <p:cNvPr id="3" name="Rectangle 2">
            <a:extLst>
              <a:ext uri="{FF2B5EF4-FFF2-40B4-BE49-F238E27FC236}">
                <a16:creationId xmlns:a16="http://schemas.microsoft.com/office/drawing/2014/main" id="{6AFA8118-05FE-4B0C-9680-644EAD90A732}"/>
              </a:ext>
            </a:extLst>
          </p:cNvPr>
          <p:cNvSpPr/>
          <p:nvPr/>
        </p:nvSpPr>
        <p:spPr>
          <a:xfrm>
            <a:off x="1736352" y="834898"/>
            <a:ext cx="6257909" cy="584775"/>
          </a:xfrm>
          <a:prstGeom prst="rect">
            <a:avLst/>
          </a:prstGeom>
        </p:spPr>
        <p:txBody>
          <a:bodyPr wrap="square">
            <a:spAutoFit/>
          </a:bodyPr>
          <a:lstStyle/>
          <a:p>
            <a:r>
              <a:rPr lang="en-US" sz="1600" dirty="0">
                <a:solidFill>
                  <a:srgbClr val="6C6C80"/>
                </a:solidFill>
                <a:latin typeface="Roboto"/>
              </a:rPr>
              <a:t>Core objectives of the </a:t>
            </a:r>
            <a:r>
              <a:rPr lang="en-US" sz="1600" dirty="0" err="1">
                <a:solidFill>
                  <a:srgbClr val="6C6C80"/>
                </a:solidFill>
                <a:latin typeface="Roboto"/>
              </a:rPr>
              <a:t>BudgetWise</a:t>
            </a:r>
            <a:r>
              <a:rPr lang="en-US" sz="1600" dirty="0">
                <a:solidFill>
                  <a:srgbClr val="6C6C80"/>
                </a:solidFill>
                <a:latin typeface="Roboto"/>
              </a:rPr>
              <a:t> AI-Based Expense Forecasting Tool</a:t>
            </a:r>
            <a:endParaRPr lang="en-IN" sz="1600" dirty="0"/>
          </a:p>
        </p:txBody>
      </p:sp>
      <p:pic>
        <p:nvPicPr>
          <p:cNvPr id="6" name="Picture 5">
            <a:extLst>
              <a:ext uri="{FF2B5EF4-FFF2-40B4-BE49-F238E27FC236}">
                <a16:creationId xmlns:a16="http://schemas.microsoft.com/office/drawing/2014/main" id="{84C27B9C-60BE-4747-BA93-D981B8E3723C}"/>
              </a:ext>
            </a:extLst>
          </p:cNvPr>
          <p:cNvPicPr>
            <a:picLocks noChangeAspect="1"/>
          </p:cNvPicPr>
          <p:nvPr/>
        </p:nvPicPr>
        <p:blipFill>
          <a:blip r:embed="rId2"/>
          <a:stretch>
            <a:fillRect/>
          </a:stretch>
        </p:blipFill>
        <p:spPr>
          <a:xfrm>
            <a:off x="1736352" y="1809857"/>
            <a:ext cx="9822797" cy="4117501"/>
          </a:xfrm>
          <a:prstGeom prst="rect">
            <a:avLst/>
          </a:prstGeom>
          <a:ln>
            <a:solidFill>
              <a:srgbClr val="CC99FF"/>
            </a:solidFill>
          </a:ln>
          <a:scene3d>
            <a:camera prst="orthographicFront"/>
            <a:lightRig rig="threePt" dir="t"/>
          </a:scene3d>
          <a:sp3d>
            <a:bevelT w="165100" prst="coolSlant"/>
          </a:sp3d>
        </p:spPr>
      </p:pic>
    </p:spTree>
    <p:extLst>
      <p:ext uri="{BB962C8B-B14F-4D97-AF65-F5344CB8AC3E}">
        <p14:creationId xmlns:p14="http://schemas.microsoft.com/office/powerpoint/2010/main" val="135837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58F753-A06C-4610-9CD3-EA1A6219B620}"/>
              </a:ext>
            </a:extLst>
          </p:cNvPr>
          <p:cNvPicPr>
            <a:picLocks noChangeAspect="1"/>
          </p:cNvPicPr>
          <p:nvPr/>
        </p:nvPicPr>
        <p:blipFill>
          <a:blip r:embed="rId2"/>
          <a:stretch>
            <a:fillRect/>
          </a:stretch>
        </p:blipFill>
        <p:spPr>
          <a:xfrm>
            <a:off x="2397613" y="1092292"/>
            <a:ext cx="6880858" cy="5345265"/>
          </a:xfrm>
          <a:prstGeom prst="rect">
            <a:avLst/>
          </a:prstGeom>
          <a:ln w="57150">
            <a:solidFill>
              <a:srgbClr val="CC99FF"/>
            </a:solidFill>
          </a:ln>
          <a:effectLst>
            <a:glow rad="101600">
              <a:schemeClr val="tx1">
                <a:lumMod val="85000"/>
                <a:lumOff val="15000"/>
                <a:alpha val="60000"/>
              </a:schemeClr>
            </a:glow>
          </a:effectLst>
        </p:spPr>
      </p:pic>
      <p:sp>
        <p:nvSpPr>
          <p:cNvPr id="5" name="Rectangle 4">
            <a:extLst>
              <a:ext uri="{FF2B5EF4-FFF2-40B4-BE49-F238E27FC236}">
                <a16:creationId xmlns:a16="http://schemas.microsoft.com/office/drawing/2014/main" id="{8D31AB22-CE58-4ABB-97C3-A3340069650B}"/>
              </a:ext>
            </a:extLst>
          </p:cNvPr>
          <p:cNvSpPr/>
          <p:nvPr/>
        </p:nvSpPr>
        <p:spPr>
          <a:xfrm>
            <a:off x="2290036" y="285971"/>
            <a:ext cx="4307988" cy="584775"/>
          </a:xfrm>
          <a:prstGeom prst="rect">
            <a:avLst/>
          </a:prstGeom>
        </p:spPr>
        <p:txBody>
          <a:bodyPr wrap="square">
            <a:spAutoFit/>
          </a:bodyPr>
          <a:lstStyle/>
          <a:p>
            <a:r>
              <a:rPr lang="en-IN" sz="3200" b="1" dirty="0">
                <a:solidFill>
                  <a:srgbClr val="204ECF"/>
                </a:solidFill>
                <a:latin typeface="Poppins"/>
              </a:rPr>
              <a:t>Process Flow  Diagram</a:t>
            </a:r>
            <a:endParaRPr lang="en-IN" sz="3200" dirty="0"/>
          </a:p>
        </p:txBody>
      </p:sp>
    </p:spTree>
    <p:extLst>
      <p:ext uri="{BB962C8B-B14F-4D97-AF65-F5344CB8AC3E}">
        <p14:creationId xmlns:p14="http://schemas.microsoft.com/office/powerpoint/2010/main" val="3639018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446D13-4FB1-4DFF-B043-E03843363C37}"/>
              </a:ext>
            </a:extLst>
          </p:cNvPr>
          <p:cNvPicPr>
            <a:picLocks noChangeAspect="1"/>
          </p:cNvPicPr>
          <p:nvPr/>
        </p:nvPicPr>
        <p:blipFill>
          <a:blip r:embed="rId2"/>
          <a:stretch>
            <a:fillRect/>
          </a:stretch>
        </p:blipFill>
        <p:spPr>
          <a:xfrm>
            <a:off x="1838642" y="1451610"/>
            <a:ext cx="9372624" cy="4542790"/>
          </a:xfrm>
          <a:prstGeom prst="rect">
            <a:avLst/>
          </a:prstGeom>
        </p:spPr>
      </p:pic>
      <p:sp>
        <p:nvSpPr>
          <p:cNvPr id="6" name="Rectangle 5">
            <a:extLst>
              <a:ext uri="{FF2B5EF4-FFF2-40B4-BE49-F238E27FC236}">
                <a16:creationId xmlns:a16="http://schemas.microsoft.com/office/drawing/2014/main" id="{AE7C526F-1F3D-4B0D-9C73-5615143668E0}"/>
              </a:ext>
            </a:extLst>
          </p:cNvPr>
          <p:cNvSpPr/>
          <p:nvPr/>
        </p:nvSpPr>
        <p:spPr>
          <a:xfrm>
            <a:off x="1943089" y="571212"/>
            <a:ext cx="3329566" cy="584775"/>
          </a:xfrm>
          <a:prstGeom prst="rect">
            <a:avLst/>
          </a:prstGeom>
        </p:spPr>
        <p:txBody>
          <a:bodyPr wrap="none">
            <a:spAutoFit/>
          </a:bodyPr>
          <a:lstStyle/>
          <a:p>
            <a:r>
              <a:rPr lang="en-IN" sz="3200" b="1" dirty="0">
                <a:solidFill>
                  <a:srgbClr val="204ECF"/>
                </a:solidFill>
                <a:latin typeface="Poppins"/>
              </a:rPr>
              <a:t>Technologies Used</a:t>
            </a:r>
            <a:endParaRPr lang="en-IN" sz="3200" dirty="0"/>
          </a:p>
        </p:txBody>
      </p:sp>
    </p:spTree>
    <p:extLst>
      <p:ext uri="{BB962C8B-B14F-4D97-AF65-F5344CB8AC3E}">
        <p14:creationId xmlns:p14="http://schemas.microsoft.com/office/powerpoint/2010/main" val="3649774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CD0FB-40EF-4D8B-93CB-2DCF0BC301EB}"/>
              </a:ext>
            </a:extLst>
          </p:cNvPr>
          <p:cNvSpPr/>
          <p:nvPr/>
        </p:nvSpPr>
        <p:spPr>
          <a:xfrm>
            <a:off x="1856953" y="226814"/>
            <a:ext cx="7937287" cy="584775"/>
          </a:xfrm>
          <a:prstGeom prst="rect">
            <a:avLst/>
          </a:prstGeom>
        </p:spPr>
        <p:txBody>
          <a:bodyPr wrap="square">
            <a:spAutoFit/>
          </a:bodyPr>
          <a:lstStyle/>
          <a:p>
            <a:r>
              <a:rPr lang="en-US" sz="3200" b="1" dirty="0">
                <a:solidFill>
                  <a:srgbClr val="204ECF"/>
                </a:solidFill>
                <a:latin typeface="Poppins"/>
              </a:rPr>
              <a:t>MILESTONE 1: Foundation &amp; Basic Input</a:t>
            </a:r>
            <a:endParaRPr lang="en-IN" sz="3200" dirty="0"/>
          </a:p>
        </p:txBody>
      </p:sp>
      <p:pic>
        <p:nvPicPr>
          <p:cNvPr id="4" name="Picture 3">
            <a:extLst>
              <a:ext uri="{FF2B5EF4-FFF2-40B4-BE49-F238E27FC236}">
                <a16:creationId xmlns:a16="http://schemas.microsoft.com/office/drawing/2014/main" id="{D7D825C9-07B9-490F-88A5-3DBCF77DD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77266" y="811589"/>
            <a:ext cx="1928027" cy="5408897"/>
          </a:xfrm>
          <a:prstGeom prst="rect">
            <a:avLst/>
          </a:prstGeom>
          <a:ln>
            <a:solidFill>
              <a:schemeClr val="bg1">
                <a:lumMod val="50000"/>
              </a:schemeClr>
            </a:solidFill>
          </a:ln>
          <a:effectLst>
            <a:outerShdw blurRad="50800" dist="38100" dir="5400000" algn="t" rotWithShape="0">
              <a:prstClr val="black">
                <a:alpha val="40000"/>
              </a:prstClr>
            </a:outerShdw>
          </a:effectLst>
        </p:spPr>
      </p:pic>
      <p:sp>
        <p:nvSpPr>
          <p:cNvPr id="6" name="Rectangle 5">
            <a:extLst>
              <a:ext uri="{FF2B5EF4-FFF2-40B4-BE49-F238E27FC236}">
                <a16:creationId xmlns:a16="http://schemas.microsoft.com/office/drawing/2014/main" id="{CA884A14-FF49-4C93-9870-77C8085323CA}"/>
              </a:ext>
            </a:extLst>
          </p:cNvPr>
          <p:cNvSpPr/>
          <p:nvPr/>
        </p:nvSpPr>
        <p:spPr>
          <a:xfrm>
            <a:off x="1422400" y="1355859"/>
            <a:ext cx="7233920" cy="3780522"/>
          </a:xfrm>
          <a:prstGeom prst="rect">
            <a:avLst/>
          </a:prstGeom>
        </p:spPr>
        <p:txBody>
          <a:bodyPr wrap="square">
            <a:spAutoFit/>
          </a:bodyPr>
          <a:lstStyle/>
          <a:p>
            <a:pPr marL="342900" indent="-342900">
              <a:lnSpc>
                <a:spcPct val="150000"/>
              </a:lnSpc>
              <a:buFont typeface="+mj-lt"/>
              <a:buAutoNum type="arabicPeriod"/>
            </a:pPr>
            <a:r>
              <a:rPr lang="en-IN" dirty="0">
                <a:solidFill>
                  <a:srgbClr val="6C6C80"/>
                </a:solidFill>
                <a:latin typeface="Roboto"/>
              </a:rPr>
              <a:t>Implemented a mock User Authentication system for login/signup, utilizing </a:t>
            </a:r>
            <a:r>
              <a:rPr lang="en-IN" dirty="0" err="1">
                <a:solidFill>
                  <a:srgbClr val="6C6C80"/>
                </a:solidFill>
                <a:latin typeface="Roboto"/>
              </a:rPr>
              <a:t>st.session_state</a:t>
            </a:r>
            <a:r>
              <a:rPr lang="en-IN" dirty="0">
                <a:solidFill>
                  <a:srgbClr val="6C6C80"/>
                </a:solidFill>
                <a:latin typeface="Roboto"/>
              </a:rPr>
              <a:t> to simulate user sessions.</a:t>
            </a:r>
            <a:br>
              <a:rPr lang="en-IN" dirty="0">
                <a:solidFill>
                  <a:srgbClr val="6C6C80"/>
                </a:solidFill>
                <a:latin typeface="Roboto"/>
              </a:rPr>
            </a:br>
            <a:endParaRPr lang="en-IN" dirty="0">
              <a:solidFill>
                <a:srgbClr val="6C6C80"/>
              </a:solidFill>
              <a:latin typeface="Roboto"/>
            </a:endParaRPr>
          </a:p>
          <a:p>
            <a:pPr marL="342900" indent="-342900">
              <a:lnSpc>
                <a:spcPct val="150000"/>
              </a:lnSpc>
              <a:buFont typeface="+mj-lt"/>
              <a:buAutoNum type="arabicPeriod"/>
            </a:pPr>
            <a:r>
              <a:rPr lang="en-IN" dirty="0">
                <a:solidFill>
                  <a:srgbClr val="6C6C80"/>
                </a:solidFill>
                <a:latin typeface="Roboto"/>
              </a:rPr>
              <a:t>Developed a minimal Profile Management setup, using the session state for basic user identification.</a:t>
            </a:r>
            <a:br>
              <a:rPr lang="en-IN" dirty="0">
                <a:solidFill>
                  <a:srgbClr val="6C6C80"/>
                </a:solidFill>
                <a:latin typeface="Roboto"/>
              </a:rPr>
            </a:br>
            <a:endParaRPr lang="en-IN" dirty="0">
              <a:solidFill>
                <a:srgbClr val="6C6C80"/>
              </a:solidFill>
              <a:latin typeface="Roboto"/>
            </a:endParaRPr>
          </a:p>
          <a:p>
            <a:pPr marL="342900" indent="-342900">
              <a:lnSpc>
                <a:spcPct val="150000"/>
              </a:lnSpc>
              <a:buFont typeface="+mj-lt"/>
              <a:buAutoNum type="arabicPeriod"/>
            </a:pPr>
            <a:r>
              <a:rPr lang="en-IN" dirty="0">
                <a:solidFill>
                  <a:srgbClr val="6C6C80"/>
                </a:solidFill>
                <a:latin typeface="Roboto"/>
              </a:rPr>
              <a:t>Created a user-friendly Manual Transaction Input form, capturing essential transaction details and storing them in-memory (</a:t>
            </a:r>
            <a:r>
              <a:rPr lang="en-IN" dirty="0" err="1">
                <a:solidFill>
                  <a:srgbClr val="6C6C80"/>
                </a:solidFill>
                <a:latin typeface="Roboto"/>
              </a:rPr>
              <a:t>st.session_state</a:t>
            </a:r>
            <a:r>
              <a:rPr lang="en-IN" dirty="0">
                <a:solidFill>
                  <a:srgbClr val="6C6C80"/>
                </a:solidFill>
                <a:latin typeface="Roboto"/>
              </a:rPr>
              <a:t>) for the current session.</a:t>
            </a:r>
            <a:endParaRPr lang="en-IN" b="0" i="0" dirty="0">
              <a:solidFill>
                <a:srgbClr val="6C6C80"/>
              </a:solidFill>
              <a:effectLst/>
              <a:latin typeface="Roboto"/>
            </a:endParaRPr>
          </a:p>
        </p:txBody>
      </p:sp>
    </p:spTree>
    <p:extLst>
      <p:ext uri="{BB962C8B-B14F-4D97-AF65-F5344CB8AC3E}">
        <p14:creationId xmlns:p14="http://schemas.microsoft.com/office/powerpoint/2010/main" val="382523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B72D27-79F7-4B76-A8CF-1FCD90BAD134}"/>
              </a:ext>
            </a:extLst>
          </p:cNvPr>
          <p:cNvSpPr/>
          <p:nvPr/>
        </p:nvSpPr>
        <p:spPr>
          <a:xfrm>
            <a:off x="1884334" y="308094"/>
            <a:ext cx="8423332" cy="523220"/>
          </a:xfrm>
          <a:prstGeom prst="rect">
            <a:avLst/>
          </a:prstGeom>
        </p:spPr>
        <p:txBody>
          <a:bodyPr wrap="none">
            <a:spAutoFit/>
          </a:bodyPr>
          <a:lstStyle/>
          <a:p>
            <a:r>
              <a:rPr lang="en-IN" sz="2800" b="1" dirty="0">
                <a:solidFill>
                  <a:srgbClr val="204ECF"/>
                </a:solidFill>
                <a:latin typeface="Poppins"/>
              </a:rPr>
              <a:t>MILESTONE 2: Data Processing, Analysis &amp; Visualization</a:t>
            </a:r>
            <a:endParaRPr lang="en-IN" sz="2800" dirty="0"/>
          </a:p>
        </p:txBody>
      </p:sp>
      <p:sp>
        <p:nvSpPr>
          <p:cNvPr id="3" name="Rectangle 2">
            <a:extLst>
              <a:ext uri="{FF2B5EF4-FFF2-40B4-BE49-F238E27FC236}">
                <a16:creationId xmlns:a16="http://schemas.microsoft.com/office/drawing/2014/main" id="{6C7C9025-13FD-42BE-B8BF-F2DE424C9EB9}"/>
              </a:ext>
            </a:extLst>
          </p:cNvPr>
          <p:cNvSpPr/>
          <p:nvPr/>
        </p:nvSpPr>
        <p:spPr>
          <a:xfrm>
            <a:off x="1264921" y="1264688"/>
            <a:ext cx="6309360" cy="4750018"/>
          </a:xfrm>
          <a:prstGeom prst="rect">
            <a:avLst/>
          </a:prstGeom>
        </p:spPr>
        <p:txBody>
          <a:bodyPr wrap="square">
            <a:spAutoFit/>
          </a:bodyPr>
          <a:lstStyle/>
          <a:p>
            <a:pPr marL="342900" indent="-342900">
              <a:lnSpc>
                <a:spcPct val="150000"/>
              </a:lnSpc>
              <a:buFont typeface="+mj-lt"/>
              <a:buAutoNum type="arabicPeriod"/>
            </a:pPr>
            <a:r>
              <a:rPr lang="en-US" dirty="0">
                <a:solidFill>
                  <a:srgbClr val="6C6C80"/>
                </a:solidFill>
                <a:latin typeface="Roboto"/>
              </a:rPr>
              <a:t>Integrated Automated Transaction Categorization using a rule-based NLTK engine, efficiently classifying transactions from descriptions.</a:t>
            </a:r>
          </a:p>
          <a:p>
            <a:pPr marL="342900" indent="-342900">
              <a:lnSpc>
                <a:spcPct val="200000"/>
              </a:lnSpc>
              <a:buFont typeface="+mj-lt"/>
              <a:buAutoNum type="arabicPeriod"/>
            </a:pPr>
            <a:r>
              <a:rPr lang="en-US" dirty="0">
                <a:solidFill>
                  <a:srgbClr val="6C6C80"/>
                </a:solidFill>
                <a:latin typeface="Roboto"/>
              </a:rPr>
              <a:t>Developed Comprehensive Spending Summary Reports &amp; Analysis with Pandas, providing insights into income vs. expense, monthly spending, and category breakdowns.</a:t>
            </a:r>
          </a:p>
          <a:p>
            <a:pPr marL="342900" indent="-342900">
              <a:lnSpc>
                <a:spcPct val="150000"/>
              </a:lnSpc>
              <a:buFont typeface="+mj-lt"/>
              <a:buAutoNum type="arabicPeriod"/>
            </a:pPr>
            <a:r>
              <a:rPr lang="en-US" dirty="0">
                <a:solidFill>
                  <a:srgbClr val="6C6C80"/>
                </a:solidFill>
                <a:latin typeface="Roboto"/>
              </a:rPr>
              <a:t>Implemented an interactive Dashboard View featuring key financial metrics, a dynamic pie chart for category spending, and a detailed transaction table.</a:t>
            </a:r>
            <a:endParaRPr lang="en-US" b="0" i="0" dirty="0">
              <a:solidFill>
                <a:srgbClr val="6C6C80"/>
              </a:solidFill>
              <a:effectLst/>
              <a:latin typeface="Roboto"/>
            </a:endParaRPr>
          </a:p>
        </p:txBody>
      </p:sp>
      <p:pic>
        <p:nvPicPr>
          <p:cNvPr id="13" name="Picture 12">
            <a:extLst>
              <a:ext uri="{FF2B5EF4-FFF2-40B4-BE49-F238E27FC236}">
                <a16:creationId xmlns:a16="http://schemas.microsoft.com/office/drawing/2014/main" id="{3DE50FC5-F6A3-4AE3-AC36-8FE46774D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4280" y="4580137"/>
            <a:ext cx="4306073" cy="2006825"/>
          </a:xfrm>
          <a:prstGeom prst="rect">
            <a:avLst/>
          </a:prstGeom>
          <a:ln>
            <a:solidFill>
              <a:schemeClr val="bg1">
                <a:lumMod val="50000"/>
              </a:schemeClr>
            </a:solidFill>
          </a:ln>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62FE879F-5B3A-4176-AA50-E1C1822DAF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4279" y="1090287"/>
            <a:ext cx="4306073" cy="1822130"/>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17" name="Picture 16">
            <a:extLst>
              <a:ext uri="{FF2B5EF4-FFF2-40B4-BE49-F238E27FC236}">
                <a16:creationId xmlns:a16="http://schemas.microsoft.com/office/drawing/2014/main" id="{55AB6D0C-3F72-4964-9351-CF53B0E81A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4281" y="3137745"/>
            <a:ext cx="4337713" cy="1302176"/>
          </a:xfrm>
          <a:prstGeom prst="rect">
            <a:avLst/>
          </a:prstGeom>
          <a:ln>
            <a:solidFill>
              <a:schemeClr val="bg1">
                <a:lumMod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26198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CBBB5D-BB74-41A0-8291-8C0579CCECE7}"/>
              </a:ext>
            </a:extLst>
          </p:cNvPr>
          <p:cNvSpPr/>
          <p:nvPr/>
        </p:nvSpPr>
        <p:spPr>
          <a:xfrm>
            <a:off x="1585698" y="385387"/>
            <a:ext cx="9451498" cy="584775"/>
          </a:xfrm>
          <a:prstGeom prst="rect">
            <a:avLst/>
          </a:prstGeom>
        </p:spPr>
        <p:txBody>
          <a:bodyPr wrap="none">
            <a:spAutoFit/>
          </a:bodyPr>
          <a:lstStyle/>
          <a:p>
            <a:r>
              <a:rPr lang="en-US" sz="3200" b="1" dirty="0">
                <a:solidFill>
                  <a:srgbClr val="204ECF"/>
                </a:solidFill>
                <a:latin typeface="Poppins"/>
              </a:rPr>
              <a:t>MILESTONE 3: Forecasting Engine &amp; Initial Goal Setting</a:t>
            </a:r>
            <a:endParaRPr lang="en-IN" sz="3200" dirty="0"/>
          </a:p>
        </p:txBody>
      </p:sp>
      <p:sp>
        <p:nvSpPr>
          <p:cNvPr id="3" name="Rectangle 2">
            <a:extLst>
              <a:ext uri="{FF2B5EF4-FFF2-40B4-BE49-F238E27FC236}">
                <a16:creationId xmlns:a16="http://schemas.microsoft.com/office/drawing/2014/main" id="{5B4D557B-D0C6-4088-84FC-2EAAB5012E65}"/>
              </a:ext>
            </a:extLst>
          </p:cNvPr>
          <p:cNvSpPr/>
          <p:nvPr/>
        </p:nvSpPr>
        <p:spPr>
          <a:xfrm>
            <a:off x="1585698" y="1030097"/>
            <a:ext cx="6096000" cy="5442516"/>
          </a:xfrm>
          <a:prstGeom prst="rect">
            <a:avLst/>
          </a:prstGeom>
        </p:spPr>
        <p:txBody>
          <a:bodyPr>
            <a:spAutoFit/>
          </a:bodyPr>
          <a:lstStyle/>
          <a:p>
            <a:pPr marL="342900" indent="-342900">
              <a:lnSpc>
                <a:spcPct val="150000"/>
              </a:lnSpc>
              <a:buFont typeface="+mj-lt"/>
              <a:buAutoNum type="arabicPeriod"/>
            </a:pPr>
            <a:r>
              <a:rPr lang="en-US" dirty="0">
                <a:solidFill>
                  <a:srgbClr val="6C6C80"/>
                </a:solidFill>
                <a:latin typeface="Roboto"/>
              </a:rPr>
              <a:t>Prepared Historical Data by aggregating transactions into a time-series format (ds, y) suitable for predictive modeling.</a:t>
            </a:r>
          </a:p>
          <a:p>
            <a:pPr marL="342900" indent="-342900">
              <a:lnSpc>
                <a:spcPct val="150000"/>
              </a:lnSpc>
              <a:buFont typeface="+mj-lt"/>
              <a:buAutoNum type="arabicPeriod"/>
            </a:pPr>
            <a:r>
              <a:rPr lang="en-US" dirty="0">
                <a:solidFill>
                  <a:srgbClr val="6C6C80"/>
                </a:solidFill>
                <a:latin typeface="Roboto"/>
              </a:rPr>
              <a:t>Successfully Integrated Meta's Prophet library, training the model with customized seasonality (weekly, yearly) to generate future expense forecasts.</a:t>
            </a:r>
          </a:p>
          <a:p>
            <a:pPr marL="342900" indent="-342900">
              <a:lnSpc>
                <a:spcPct val="150000"/>
              </a:lnSpc>
              <a:buFont typeface="+mj-lt"/>
              <a:buAutoNum type="arabicPeriod"/>
            </a:pPr>
            <a:r>
              <a:rPr lang="en-US" dirty="0">
                <a:solidFill>
                  <a:srgbClr val="6C6C80"/>
                </a:solidFill>
                <a:latin typeface="Roboto"/>
              </a:rPr>
              <a:t> Developed Interactive Forecast Visualizations (Altair), displaying future predictions, confidence intervals, and component breakdowns (trend, seasonality) alongside historical data.</a:t>
            </a:r>
          </a:p>
          <a:p>
            <a:pPr marL="342900" indent="-342900">
              <a:lnSpc>
                <a:spcPct val="150000"/>
              </a:lnSpc>
              <a:buFont typeface="+mj-lt"/>
              <a:buAutoNum type="arabicPeriod"/>
            </a:pPr>
            <a:r>
              <a:rPr lang="en-US" dirty="0">
                <a:solidFill>
                  <a:srgbClr val="6C6C80"/>
                </a:solidFill>
                <a:latin typeface="Roboto"/>
              </a:rPr>
              <a:t>Laid the initial framework for Financial Goal Setting, to be fully developed and integrated in the subsequent milestone.</a:t>
            </a:r>
            <a:endParaRPr lang="en-US" b="0" i="0" dirty="0">
              <a:solidFill>
                <a:srgbClr val="6C6C80"/>
              </a:solidFill>
              <a:effectLst/>
              <a:latin typeface="Roboto"/>
            </a:endParaRPr>
          </a:p>
        </p:txBody>
      </p:sp>
      <p:pic>
        <p:nvPicPr>
          <p:cNvPr id="5" name="Picture 4">
            <a:extLst>
              <a:ext uri="{FF2B5EF4-FFF2-40B4-BE49-F238E27FC236}">
                <a16:creationId xmlns:a16="http://schemas.microsoft.com/office/drawing/2014/main" id="{3CC88C81-61D3-43A6-B952-B6448D98B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7808" y="1030097"/>
            <a:ext cx="4435139" cy="2393425"/>
          </a:xfrm>
          <a:prstGeom prst="rect">
            <a:avLst/>
          </a:prstGeom>
          <a:ln>
            <a:solidFill>
              <a:schemeClr val="bg2">
                <a:lumMod val="75000"/>
              </a:schemeClr>
            </a:solidFill>
          </a:ln>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96301787-A8AF-490F-ABAF-9AEB54A4B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6373" y="3751355"/>
            <a:ext cx="4435139" cy="2293136"/>
          </a:xfrm>
          <a:prstGeom prst="rect">
            <a:avLst/>
          </a:prstGeom>
          <a:ln>
            <a:solidFill>
              <a:schemeClr val="bg1">
                <a:lumMod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683973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5AE47C-341B-4530-B5BA-E4C8130696AE}"/>
              </a:ext>
            </a:extLst>
          </p:cNvPr>
          <p:cNvSpPr/>
          <p:nvPr/>
        </p:nvSpPr>
        <p:spPr>
          <a:xfrm>
            <a:off x="1836341" y="408537"/>
            <a:ext cx="9784345" cy="584775"/>
          </a:xfrm>
          <a:prstGeom prst="rect">
            <a:avLst/>
          </a:prstGeom>
        </p:spPr>
        <p:txBody>
          <a:bodyPr wrap="none">
            <a:spAutoFit/>
          </a:bodyPr>
          <a:lstStyle/>
          <a:p>
            <a:r>
              <a:rPr lang="en-US" sz="3200" b="1" dirty="0">
                <a:solidFill>
                  <a:srgbClr val="204ECF"/>
                </a:solidFill>
                <a:latin typeface="Poppins"/>
              </a:rPr>
              <a:t>MILESTONE 4: Admin Dashboard &amp; System Management</a:t>
            </a:r>
            <a:endParaRPr lang="en-IN" sz="3200" dirty="0"/>
          </a:p>
        </p:txBody>
      </p:sp>
      <p:sp>
        <p:nvSpPr>
          <p:cNvPr id="3" name="Rectangle 2">
            <a:extLst>
              <a:ext uri="{FF2B5EF4-FFF2-40B4-BE49-F238E27FC236}">
                <a16:creationId xmlns:a16="http://schemas.microsoft.com/office/drawing/2014/main" id="{EAE9C560-3A96-4C40-AB1D-401AE4106184}"/>
              </a:ext>
            </a:extLst>
          </p:cNvPr>
          <p:cNvSpPr/>
          <p:nvPr/>
        </p:nvSpPr>
        <p:spPr>
          <a:xfrm>
            <a:off x="1758940" y="1362818"/>
            <a:ext cx="6096000" cy="5027017"/>
          </a:xfrm>
          <a:prstGeom prst="rect">
            <a:avLst/>
          </a:prstGeom>
        </p:spPr>
        <p:txBody>
          <a:bodyPr>
            <a:spAutoFit/>
          </a:bodyPr>
          <a:lstStyle/>
          <a:p>
            <a:pPr marL="342900" indent="-342900">
              <a:lnSpc>
                <a:spcPct val="150000"/>
              </a:lnSpc>
              <a:buFont typeface="+mj-lt"/>
              <a:buAutoNum type="arabicPeriod"/>
            </a:pPr>
            <a:r>
              <a:rPr lang="en-US" dirty="0">
                <a:solidFill>
                  <a:srgbClr val="6C6C80"/>
                </a:solidFill>
                <a:latin typeface="Roboto"/>
              </a:rPr>
              <a:t>Implemented Role-Based Access Control (RBAC), differentiating user and admin logins with an "Admin Mode" toggle for secure access.</a:t>
            </a:r>
            <a:br>
              <a:rPr lang="en-US" dirty="0">
                <a:solidFill>
                  <a:srgbClr val="6C6C80"/>
                </a:solidFill>
                <a:latin typeface="Roboto"/>
              </a:rPr>
            </a:br>
            <a:endParaRPr lang="en-US" dirty="0">
              <a:solidFill>
                <a:srgbClr val="6C6C80"/>
              </a:solidFill>
              <a:latin typeface="Roboto"/>
            </a:endParaRPr>
          </a:p>
          <a:p>
            <a:pPr marL="342900" indent="-342900">
              <a:lnSpc>
                <a:spcPct val="150000"/>
              </a:lnSpc>
              <a:buFont typeface="+mj-lt"/>
              <a:buAutoNum type="arabicPeriod"/>
            </a:pPr>
            <a:r>
              <a:rPr lang="en-US" dirty="0">
                <a:solidFill>
                  <a:srgbClr val="6C6C80"/>
                </a:solidFill>
                <a:latin typeface="Roboto"/>
              </a:rPr>
              <a:t>Developed a dedicated Admin Dashboard for system monitoring, displaying key performance indicators (KPIs) like total users, transactions, and active goals</a:t>
            </a:r>
            <a:br>
              <a:rPr lang="en-US" dirty="0">
                <a:solidFill>
                  <a:srgbClr val="6C6C80"/>
                </a:solidFill>
                <a:latin typeface="Roboto"/>
              </a:rPr>
            </a:br>
            <a:endParaRPr lang="en-US" dirty="0">
              <a:solidFill>
                <a:srgbClr val="6C6C80"/>
              </a:solidFill>
              <a:latin typeface="Roboto"/>
            </a:endParaRPr>
          </a:p>
          <a:p>
            <a:pPr marL="342900" indent="-342900">
              <a:lnSpc>
                <a:spcPct val="150000"/>
              </a:lnSpc>
              <a:buFont typeface="+mj-lt"/>
              <a:buAutoNum type="arabicPeriod"/>
            </a:pPr>
            <a:r>
              <a:rPr lang="en-US" dirty="0">
                <a:solidFill>
                  <a:srgbClr val="6C6C80"/>
                </a:solidFill>
                <a:latin typeface="Roboto"/>
              </a:rPr>
              <a:t>Enabled Dynamic Category Management, allowing administrators to create, update, and manage transaction categories and their associated keywords via a UI, dynamically updating the NLTK engine.</a:t>
            </a:r>
            <a:endParaRPr lang="en-US" b="0" i="0" dirty="0">
              <a:solidFill>
                <a:srgbClr val="6C6C80"/>
              </a:solidFill>
              <a:effectLst/>
              <a:latin typeface="Roboto"/>
            </a:endParaRPr>
          </a:p>
        </p:txBody>
      </p:sp>
      <p:pic>
        <p:nvPicPr>
          <p:cNvPr id="6" name="Picture 5">
            <a:extLst>
              <a:ext uri="{FF2B5EF4-FFF2-40B4-BE49-F238E27FC236}">
                <a16:creationId xmlns:a16="http://schemas.microsoft.com/office/drawing/2014/main" id="{08A74107-1BE3-4C4C-AA0B-508082949F0F}"/>
              </a:ext>
            </a:extLst>
          </p:cNvPr>
          <p:cNvPicPr>
            <a:picLocks noChangeAspect="1"/>
          </p:cNvPicPr>
          <p:nvPr/>
        </p:nvPicPr>
        <p:blipFill>
          <a:blip r:embed="rId2"/>
          <a:stretch>
            <a:fillRect/>
          </a:stretch>
        </p:blipFill>
        <p:spPr>
          <a:xfrm>
            <a:off x="7589846" y="1449895"/>
            <a:ext cx="4422156" cy="1533038"/>
          </a:xfrm>
          <a:prstGeom prst="rect">
            <a:avLst/>
          </a:prstGeom>
          <a:ln>
            <a:solidFill>
              <a:schemeClr val="bg1">
                <a:lumMod val="50000"/>
              </a:schemeClr>
            </a:solidFill>
          </a:ln>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94BB297E-1B45-4351-9576-1CD51AFA044D}"/>
              </a:ext>
            </a:extLst>
          </p:cNvPr>
          <p:cNvPicPr>
            <a:picLocks noChangeAspect="1"/>
          </p:cNvPicPr>
          <p:nvPr/>
        </p:nvPicPr>
        <p:blipFill>
          <a:blip r:embed="rId3"/>
          <a:stretch>
            <a:fillRect/>
          </a:stretch>
        </p:blipFill>
        <p:spPr>
          <a:xfrm>
            <a:off x="7589846" y="3429000"/>
            <a:ext cx="4422156" cy="2858639"/>
          </a:xfrm>
          <a:prstGeom prst="rect">
            <a:avLst/>
          </a:prstGeom>
          <a:ln>
            <a:solidFill>
              <a:schemeClr val="bg1">
                <a:lumMod val="50000"/>
              </a:schemeClr>
            </a:solidFill>
          </a:ln>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500351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73CDDB-CD9C-4EC5-8794-A8433AD187CF}"/>
              </a:ext>
            </a:extLst>
          </p:cNvPr>
          <p:cNvPicPr>
            <a:picLocks noChangeAspect="1"/>
          </p:cNvPicPr>
          <p:nvPr/>
        </p:nvPicPr>
        <p:blipFill>
          <a:blip r:embed="rId2"/>
          <a:stretch>
            <a:fillRect/>
          </a:stretch>
        </p:blipFill>
        <p:spPr>
          <a:xfrm>
            <a:off x="1494883" y="1787866"/>
            <a:ext cx="10298219" cy="3964751"/>
          </a:xfrm>
          <a:prstGeom prst="rect">
            <a:avLst/>
          </a:prstGeom>
        </p:spPr>
      </p:pic>
      <p:sp>
        <p:nvSpPr>
          <p:cNvPr id="5" name="Rectangle 4">
            <a:extLst>
              <a:ext uri="{FF2B5EF4-FFF2-40B4-BE49-F238E27FC236}">
                <a16:creationId xmlns:a16="http://schemas.microsoft.com/office/drawing/2014/main" id="{9DB69B1A-2488-45FC-8DD1-093B6D0414BA}"/>
              </a:ext>
            </a:extLst>
          </p:cNvPr>
          <p:cNvSpPr/>
          <p:nvPr/>
        </p:nvSpPr>
        <p:spPr>
          <a:xfrm>
            <a:off x="1636865" y="751440"/>
            <a:ext cx="8579978" cy="707886"/>
          </a:xfrm>
          <a:prstGeom prst="rect">
            <a:avLst/>
          </a:prstGeom>
        </p:spPr>
        <p:txBody>
          <a:bodyPr wrap="none">
            <a:spAutoFit/>
          </a:bodyPr>
          <a:lstStyle/>
          <a:p>
            <a:r>
              <a:rPr lang="en-IN" sz="4000" b="1" dirty="0">
                <a:solidFill>
                  <a:srgbClr val="204ECF"/>
                </a:solidFill>
                <a:latin typeface="Poppins"/>
              </a:rPr>
              <a:t>Project Summary &amp; Key Achievements: </a:t>
            </a:r>
            <a:endParaRPr lang="en-IN" sz="4000" dirty="0"/>
          </a:p>
        </p:txBody>
      </p:sp>
    </p:spTree>
    <p:extLst>
      <p:ext uri="{BB962C8B-B14F-4D97-AF65-F5344CB8AC3E}">
        <p14:creationId xmlns:p14="http://schemas.microsoft.com/office/powerpoint/2010/main" val="3238324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AFAEA3-588C-4FDB-8E3D-55DFC4F88F6B}"/>
              </a:ext>
            </a:extLst>
          </p:cNvPr>
          <p:cNvPicPr>
            <a:picLocks noChangeAspect="1"/>
          </p:cNvPicPr>
          <p:nvPr/>
        </p:nvPicPr>
        <p:blipFill>
          <a:blip r:embed="rId2"/>
          <a:stretch>
            <a:fillRect/>
          </a:stretch>
        </p:blipFill>
        <p:spPr>
          <a:xfrm>
            <a:off x="1776887" y="1209600"/>
            <a:ext cx="8638226" cy="4919195"/>
          </a:xfrm>
          <a:prstGeom prst="rect">
            <a:avLst/>
          </a:prstGeom>
        </p:spPr>
      </p:pic>
      <p:sp>
        <p:nvSpPr>
          <p:cNvPr id="3" name="Rectangle 2">
            <a:extLst>
              <a:ext uri="{FF2B5EF4-FFF2-40B4-BE49-F238E27FC236}">
                <a16:creationId xmlns:a16="http://schemas.microsoft.com/office/drawing/2014/main" id="{5194D9B9-AC69-4B9C-BD04-F3F07FB6AF52}"/>
              </a:ext>
            </a:extLst>
          </p:cNvPr>
          <p:cNvSpPr/>
          <p:nvPr/>
        </p:nvSpPr>
        <p:spPr>
          <a:xfrm>
            <a:off x="1925256" y="339486"/>
            <a:ext cx="7800644" cy="1200329"/>
          </a:xfrm>
          <a:prstGeom prst="rect">
            <a:avLst/>
          </a:prstGeom>
        </p:spPr>
        <p:txBody>
          <a:bodyPr wrap="square">
            <a:spAutoFit/>
          </a:bodyPr>
          <a:lstStyle/>
          <a:p>
            <a:r>
              <a:rPr lang="en-IN" sz="3600" b="1" dirty="0">
                <a:solidFill>
                  <a:srgbClr val="204ECF"/>
                </a:solidFill>
                <a:latin typeface="Poppins"/>
              </a:rPr>
              <a:t>Future Enhancement &amp; Road Map :</a:t>
            </a:r>
            <a:br>
              <a:rPr lang="en-IN" sz="3600" dirty="0"/>
            </a:br>
            <a:endParaRPr lang="en-IN" sz="3600" dirty="0"/>
          </a:p>
        </p:txBody>
      </p:sp>
    </p:spTree>
    <p:extLst>
      <p:ext uri="{BB962C8B-B14F-4D97-AF65-F5344CB8AC3E}">
        <p14:creationId xmlns:p14="http://schemas.microsoft.com/office/powerpoint/2010/main" val="3943546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71F9EF-8746-4C45-8F36-84F19B0906E1}"/>
              </a:ext>
            </a:extLst>
          </p:cNvPr>
          <p:cNvSpPr/>
          <p:nvPr/>
        </p:nvSpPr>
        <p:spPr>
          <a:xfrm>
            <a:off x="1965364" y="412439"/>
            <a:ext cx="2856616" cy="646331"/>
          </a:xfrm>
          <a:prstGeom prst="rect">
            <a:avLst/>
          </a:prstGeom>
        </p:spPr>
        <p:txBody>
          <a:bodyPr wrap="none">
            <a:spAutoFit/>
          </a:bodyPr>
          <a:lstStyle/>
          <a:p>
            <a:r>
              <a:rPr lang="en-IN" sz="3600" b="1" dirty="0">
                <a:solidFill>
                  <a:srgbClr val="204ECF"/>
                </a:solidFill>
                <a:latin typeface="Poppins"/>
              </a:rPr>
              <a:t>CONCLUSION:</a:t>
            </a:r>
            <a:endParaRPr lang="en-IN" sz="3600" dirty="0"/>
          </a:p>
        </p:txBody>
      </p:sp>
      <p:sp>
        <p:nvSpPr>
          <p:cNvPr id="3" name="Rectangle 2">
            <a:extLst>
              <a:ext uri="{FF2B5EF4-FFF2-40B4-BE49-F238E27FC236}">
                <a16:creationId xmlns:a16="http://schemas.microsoft.com/office/drawing/2014/main" id="{48BC2AD0-7346-4C00-9B29-75A8C78A27CA}"/>
              </a:ext>
            </a:extLst>
          </p:cNvPr>
          <p:cNvSpPr/>
          <p:nvPr/>
        </p:nvSpPr>
        <p:spPr>
          <a:xfrm>
            <a:off x="1965364" y="1360835"/>
            <a:ext cx="7878501" cy="4438395"/>
          </a:xfrm>
          <a:prstGeom prst="rect">
            <a:avLst/>
          </a:prstGeom>
        </p:spPr>
        <p:txBody>
          <a:bodyPr wrap="square">
            <a:spAutoFit/>
          </a:bodyPr>
          <a:lstStyle/>
          <a:p>
            <a:pPr>
              <a:lnSpc>
                <a:spcPct val="200000"/>
              </a:lnSpc>
            </a:pPr>
            <a:r>
              <a:rPr lang="en-US" dirty="0" err="1">
                <a:solidFill>
                  <a:srgbClr val="6C6C80"/>
                </a:solidFill>
                <a:latin typeface="Roboto"/>
              </a:rPr>
              <a:t>BudgetWise</a:t>
            </a:r>
            <a:r>
              <a:rPr lang="en-US" dirty="0">
                <a:solidFill>
                  <a:srgbClr val="6C6C80"/>
                </a:solidFill>
                <a:latin typeface="Roboto"/>
              </a:rPr>
              <a:t>: Empowering Your Financial Future </a:t>
            </a:r>
          </a:p>
          <a:p>
            <a:pPr>
              <a:lnSpc>
                <a:spcPct val="200000"/>
              </a:lnSpc>
            </a:pPr>
            <a:r>
              <a:rPr lang="en-US" dirty="0">
                <a:solidFill>
                  <a:srgbClr val="6C6C80"/>
                </a:solidFill>
                <a:latin typeface="Roboto"/>
              </a:rPr>
              <a:t>We've demonstrated how </a:t>
            </a:r>
            <a:r>
              <a:rPr lang="en-US" dirty="0" err="1">
                <a:solidFill>
                  <a:srgbClr val="6C6C80"/>
                </a:solidFill>
                <a:latin typeface="Roboto"/>
              </a:rPr>
              <a:t>BudgetWise</a:t>
            </a:r>
            <a:r>
              <a:rPr lang="en-US" dirty="0">
                <a:solidFill>
                  <a:srgbClr val="6C6C80"/>
                </a:solidFill>
                <a:latin typeface="Roboto"/>
              </a:rPr>
              <a:t> transforms complex financial management into an intuitive, AI-driven experience. By automating categorization, providing predictive forecasts, and enabling proactive goal tracking, </a:t>
            </a:r>
            <a:r>
              <a:rPr lang="en-US" dirty="0" err="1">
                <a:solidFill>
                  <a:srgbClr val="6C6C80"/>
                </a:solidFill>
                <a:latin typeface="Roboto"/>
              </a:rPr>
              <a:t>BudgetWise</a:t>
            </a:r>
            <a:r>
              <a:rPr lang="en-US" dirty="0">
                <a:solidFill>
                  <a:srgbClr val="6C6C80"/>
                </a:solidFill>
                <a:latin typeface="Roboto"/>
              </a:rPr>
              <a:t> empowers individuals to gain unparalleled clarity and control over their finances, ensuring smarter decisions and greater financial stability. </a:t>
            </a:r>
          </a:p>
          <a:p>
            <a:pPr>
              <a:lnSpc>
                <a:spcPct val="200000"/>
              </a:lnSpc>
            </a:pPr>
            <a:r>
              <a:rPr lang="en-US" b="1" i="1" dirty="0">
                <a:solidFill>
                  <a:srgbClr val="6C6C80"/>
                </a:solidFill>
                <a:effectLst>
                  <a:outerShdw blurRad="38100" dist="38100" dir="2700000" algn="tl">
                    <a:srgbClr val="000000">
                      <a:alpha val="43137"/>
                    </a:srgbClr>
                  </a:outerShdw>
                </a:effectLst>
                <a:latin typeface="Roboto"/>
              </a:rPr>
              <a:t>Thank You!</a:t>
            </a:r>
          </a:p>
        </p:txBody>
      </p:sp>
    </p:spTree>
    <p:extLst>
      <p:ext uri="{BB962C8B-B14F-4D97-AF65-F5344CB8AC3E}">
        <p14:creationId xmlns:p14="http://schemas.microsoft.com/office/powerpoint/2010/main" val="19991179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TM10001115[[fn=Parcel]]</Template>
  <TotalTime>209</TotalTime>
  <Words>891</Words>
  <Application>Microsoft Office PowerPoint</Application>
  <PresentationFormat>Widescreen</PresentationFormat>
  <Paragraphs>57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Corbel</vt:lpstr>
      <vt:lpstr>Poppins</vt:lpstr>
      <vt:lpstr>Roboto</vt:lpstr>
      <vt:lpstr>Parallax</vt:lpstr>
      <vt:lpstr>Infosys Budget Wise AI based Expense Forecasting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 Budget Wise AI based Expense Forecasting Tool</dc:title>
  <dc:creator>SHAIK AFRIN BANU</dc:creator>
  <cp:lastModifiedBy>SHAIK AFRIN BANU</cp:lastModifiedBy>
  <cp:revision>17</cp:revision>
  <dcterms:created xsi:type="dcterms:W3CDTF">2025-11-21T14:51:39Z</dcterms:created>
  <dcterms:modified xsi:type="dcterms:W3CDTF">2025-11-21T18:22:43Z</dcterms:modified>
</cp:coreProperties>
</file>